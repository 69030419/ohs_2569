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การประเมินความเสี่ยงอาชีวอนามัย · สัปดาห์ที่ 10–11 · สถานการณ์ที่ 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ไรเดอร์ส่งอาหารและพัสดุด่วนแพลตฟอร์มดิจิทัล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828800" cy="0"/>
          </a:xfrm>
          <a:prstGeom prst="line">
            <a:avLst/>
          </a:prstGeom>
          <a:noFill/>
          <a:ln w="31750">
            <a:solidFill>
              <a:srgbClr val="C9A2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9260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กรณีศึกษานายกอล์ฟ: การชี้บ่งอันตราย การประเมินความเสี่ยง และลำดับขั้นการควบคุม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แบบฝึกหัดวิชาอาชีวอนามัยและความปลอดภัย · มุ่งเน้นการปรับปรุงเชิงระบบ ไม่กล่าวโทษผู้ปฏิบัติงาน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ภาคการศึกษา 2569 · Workshop Week 10–11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37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รายชื่อสมาชิกกลุ่ม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ศักย์ศรณ์ ทองคำพูล 69030229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อริยวงศ์ อารมย์เพียร 69030268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กฤติน แก้วนิรัตน์ 69030281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5257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กิตติศักดิ์ พัฒนนิติศักดิ์ 69030450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สุธินันท์ เหมทานนท์ 69030419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ธีระนิตย์ บุญทวี 69030343</a:t>
            </a:r>
            <a:endParaRPr lang="en-US" sz="1300" dirty="0"/>
          </a:p>
        </p:txBody>
      </p:sp>
      <p:pic>
        <p:nvPicPr>
          <p:cNvPr id="11" name="Image 0" descr="cover-000.jpg">    </p:cNvPr>
          <p:cNvPicPr>
            <a:picLocks noChangeAspect="1"/>
          </p:cNvPicPr>
          <p:nvPr/>
        </p:nvPicPr>
        <p:blipFill>
          <a:blip r:embed="rId1"/>
          <a:srcRect l="14590" r="14590" t="0" b="0"/>
          <a:stretch/>
        </p:blipFill>
        <p:spPr>
          <a:xfrm>
            <a:off x="8686800" y="640080"/>
            <a:ext cx="2926080" cy="55778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595360" y="548640"/>
            <a:ext cx="3108960" cy="5760720"/>
          </a:xfrm>
          <a:prstGeom prst="rect">
            <a:avLst/>
          </a:prstGeom>
          <a:ln w="12700">
            <a:solidFill>
              <a:srgbClr val="C9A24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 / 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0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1–2 | ใบงานส่วนที่ 1: ชี้บ่งอันตรายและผู้มีความเสี่ยง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C9A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จัดข้อมูลกรณีนายกอล์ฟลงตารางตามแบบฟอร์ม: กิจกรรม อันตราย ประเภท ผู้มีความเสี่ยง (รวมกลุ่มเปราะบาง) และผลกระทบ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 / 10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2743200"/>
                <a:gridCol w="1554480"/>
                <a:gridCol w="2377440"/>
                <a:gridCol w="1737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ลำดับ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กิจกรรม / จุดปฏิบัติงาน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อันตรายที่ชี้บ่งได้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ประเภทอันตราย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ใครมีความเสี่ยง (รวมกลุ่มเปราะบาง)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ลักษณะความสูญเสีย / ผลกระทบ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ขับฝ่ารถติดเพื่อให้ทันเวลา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แรงกดดันจากกำหนดส่ง/คะแนน นำไปสู่การแทรกเลน ข้ามเลน ขึ้นทางเท้า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จิตสังคม / กลไก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ไรเดอร์; ผู้ขับขี่รถอื่น; คนเดินเท้า (รวมเด็ก/ผู้สูงอายุ)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รถชน บาดเจ็บรุนแรงหรือเสียชีวิต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ดู GPS และรับออเดอร์ระหว่างขับ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ละสายตาจากถนนและแบ่งความสนใจ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กลไก / จิตสังคม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ไรเดอร์; ผู้ใช้ถนนรอบข้าง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ชนหรือเฉี่ยวชนจากการตอบสนองช้า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บรรทุกกล่องท้ายและขับบนถนนเปียก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น้ำหนักถ่วงท้าย รถเสียสมดุล; ฝนตก น้ำขัง และฝาท่อโลหะทำให้ลื่น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กลไก / กายภาพ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ไรเดอร์; ผู้ใช้ถนนใกล้เคียง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รถล้ม กระแทก บาดเจ็บถึงขั้นเสียชีวิต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ทำงานต่อเนื่อง 12–14 ชั่วโมง/วัน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ความล้าสะสม ง่วง หลับใน และแรงกดดันรายได้ (ผ่อนรถ)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จิตสังคม / การยศาสตร์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 (ไม่มีประกันสังคมมาตรา 33/ประกันอุบัติเหตุ); ผู้ใช้ถนนรอบข้าง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อุบัติเหตุ; ปวดหลังและข้อมือเรื้อรัง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ขับในความร้อน ฝน และ PM2.5 สูง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ความร้อน ฝุ่นละออง และท่าทาง/แรงสั่นสะเทือนต่อเนื่อง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กายภาพ / เคมี / การยศาสตร์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อ่อนเพลีย ระคายเคือง ผลกระทบทางเดินหายใจหรือกล้ามเนื้อ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เรื่องเล่าสถานการณ์ที่ 14 (ไรเดอร์ส่งอาหารและพัสดุด่วน) ใน Week10-11 Workshop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0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3 | ใบงานส่วนที่ 2: ประเมินความเสี่ยงสภาพเดิม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C9A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 ดูจากมาตรการเดิมที่มีอยู่จริง (L=4 คือไม่มีแผน/ป้ายเตือน/PM ที่ตรงกับอันตรายนั้น); S ตามผลกระทบสูงสุด; เรียงลำดับจากความเสี่ยงสูงสุด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 / 10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749040"/>
                <a:gridCol w="548640"/>
                <a:gridCol w="548640"/>
                <a:gridCol w="73152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อันตรายที่วิเคราะห์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มาตรการเดิมที่มีอยู่จริง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L×S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ระดับ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การตัดสินใจ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รถชนจากการเร่ง/แทรกเลน/ขึ้นทางเท้า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ป๊อปอัปเตือนทั่วไปเรื่องหมวกนิรภัย (ไม่เกี่ยวกับการเร่ง); ไม่มีระบบจำกัดแรงกดดันเวลา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สูงมาก (4)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ยอมรับไม่ได้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เสียสมาธิจากการดูโทรศัพท์ขณะขับ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ไม่มีมาตรการ: แอปแสดง GPS/ออเดอร์ที่แฮนด์ ไม่มีการล็อกหน้าจอขณะรถเคลื่อน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สูงมาก (4)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ยอมรับไม่ได้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ล้าสะสมและหลับในจากชั่วโมงทำงานยาว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ไม่มีการจำกัดชั่วโมงขับขี่สูงสุดต่อวันในระบบแอป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สูงมาก (4)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ยอมรับไม่ได้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รถล้มจากกล่องถ่วงท้ายและถนนลื่น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หมวกครึ่งใบที่ไรเดอร์ซื้อเอง; ไม่มีการตรวจสภาพรถตามระยะ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สูงมาก (4)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ยอมรับไม่ได้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PM2.5/ความร้อนและภาระการยศาสตร์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ไม่มีมาตรการเฉพาะในสถานการณ์ที่ให้มา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สูงมาก (4)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ยอมรับไม่ได้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คะแนนเป็นการประเมินเบื้องต้นของกลุ่ม ไม่ใช่ข้อมูลอุบัติเหตุจริง; เกณฑ์ตาม Risk Matrix 4×4 (L×S = 12, 16 → สูงมาก ต้องหยุดดำเนินการและเพิ่มมาตรการ)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0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4 | ใบงานส่วนที่ 3: มาตรการควบคุมระดับ 1–3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C9A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เรียงจากแก้แรงจูงใจและระบบงาน ไปสู่การควบคุมทางวิศวกรรมและการบริหาร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 / 10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109728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ลำดับขั้นการควบคุม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รายละเอียดมาตรการที่เสนอ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ความเป็นไปได้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เหตุผลสนับสนุนและวิธีปฏิบัติ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 ขจัด / ทดแทน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แทนระบบลงโทษเมื่อส่งช้าด้วยเวลาส่งที่ปรับตามจราจรและอากาศ; ไม่บังคับเร่งเพื่อรักษาคะแนน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ทำได้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แพลตฟอร์มปรับอัลกอริทึมและตัวชี้วัดได้ ลดแรงกดดันซึ่งเป็นต้นเหตุของพฤติกรรมเสี่ยง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 วิศวกรรม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ล็อกการรับออเดอร์/แตะหน้าจอเมื่อรถเคลื่อน; ใช้เสียงนำทาง; ยึด/จำกัดน้ำหนักกล่องท้ายและมีจุดยึดที่มั่นคง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ทำได้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ลดสิ่งรบกวน และช่วยคงสมดุลรถโดยไม่พึ่งความจำของผู้ขับอย่างเดียว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 บริหารจัดการ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จำกัดชั่วโมงขับและจัดเวลาพัก; หยุดงานเมื่อฝนหนัก/น้ำท่วม; ตรวจสภาพรถตามระยะ; SOP ขับขี่ปลอดภัยและฝึกอบรม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ทำได้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กำหนดกติกาในแอปพร้อมช่องทางพักและแจ้งเหตุ โดยไม่ตัดคะแนนไรเดอร์ที่หยุดเพื่อความปลอดภัย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0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4 | ใบงานส่วนที่ 3: มาตรการควบคุมระดับ 4–6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C9A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เติมสวัสดิการ อุปกรณ์ป้องกัน และการเฝ้าระวังสุขภาพเป็นชั้นเสริม ไม่ใช้แทนการแก้ต้นเหตุ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 / 10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109728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ลำดับขั้นการควบคุม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รายละเอียดมาตรการที่เสนอ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ความเป็นไปได้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เหตุผลสนับสนุนและวิธีปฏิบัติ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 สุขอนามัย / สวัสดิการ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จัดจุดพักร่มเงา น้ำดื่ม ห้องน้ำ ชุดปฐมพยาบาล และแนวทางหลบฝน/ความร้อน; ประกันอุบัติเหตุและสิทธิประกันสังคมมาตรา 33 (หรือเทียบเท่า)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ทำได้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ลดผลกระทบจากสภาพอากาศ เอื้อให้หยุดพักได้จริงโดยไม่เสียรายได้/คะแนน และคุ้มครองเมื่อเกิดเหตุ (สถานการณ์ระบุว่าไม่มีสวัสดิการเหล่านี้)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5. PPE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สนับสนุนหมวกเต็มใบมาตรฐานที่พอดี เสื้อสะท้อนแสง อุปกรณ์กันฝนที่ไม่บังทัศนวิสัย และหน้ากากกรองฝุ่นที่เหมาะกับการขับขี่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ทำได้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เพิ่มการมองเห็นและลดการสัมผัสบางส่วน (ทดแทนหมวกครึ่งใบที่ซื้อเอง); ให้ไรเดอร์ทดลองความพอดีและไม่ลดการมองเห็นหรือการหายใจ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6. เฝ้าระวังอาชีวอนามัย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ตรวจสุขภาพประจำปีโดยบุคลากรอาชีวอนามัย (กล้ามเนื้อ-กระดูกหลัง/ข้อมือ, สมรรถภาพปอด Spirometry จาก PM2.5, สายตา); ติดตามอาการล้าและอุบัติเหตุ/เกือบเกิดเหตุ; ส่งต่อเข้าถึงการดูแล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ทำได้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ค้นหาอาการและโรคจากงานตั้งแต่ระยะเริ่มต้น ประเมินว่ามาตรการได้ผลหรือไม่ และปรับการทำงานก่อนเกิดอันตรายซ้ำ</a:t>
                      </a:r>
                      <a:endParaRPr lang="en-US" sz="16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0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 4 | ใบงานส่วนที่ 4: ประเมินความเสี่ยงคงเหลือ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C9A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สมมติฐานเมื่อมาตรการระดับ 1–6 ทำงานครบถ้วน; ความรุนแรง (S) คงเดิมหากผลกระทบสูงสุดยังเกิดขึ้นได้ (L=1 ต้องมีแผน + ป้ายเตือน + PM ครบ)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 / 10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572000"/>
                <a:gridCol w="731520"/>
                <a:gridCol w="731520"/>
                <a:gridCol w="9144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อันตรายที่ควบคุม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มาตรการใหม่ที่นำมาใช้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 ใหม่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 ใหม่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คะแนนใหม่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ระดับใหม่ / การตัดสินใจ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รถชนจากแรงกดดันและพฤติกรรมเสี่ยง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ปรับเวลา/คะแนน; จำกัดการเร่ง; SOP; แจ้งเตือนในแอป; ทบทวนอัลกอริทึมและติดตามเหตุเป็นระยะ (PM)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ปานกลาง (2) · ยอมรับได้*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เสียสมาธิจากโทรศัพท์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ล็อกการแตะหน้าจอขณะขับ; เสียงนำทาง; แจ้งเตือนเมื่อรถเคลื่อน; ทดสอบระบบเป็นระยะ (PM)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ปานกลาง (2) · ยอมรับได้*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ความล้า/หลับใน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เพดานชั่วโมง; พักบังคับ; หยุดรับงานเมื่อไม่พร้อม; เตือนพักในแอป; ตรวจข้อมูลชั่วโมงขับจริงเป็นระยะ (PM)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ปานกลาง (2) · ยอมรับได้*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รถล้ม/เสียสมดุลบนถนนลื่น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ตรวจรถตามระยะ (PM); จำกัด/ยึดกล่อง; หยุดงานในสภาพอากาศอันตราย; แจ้งเตือนสภาพอากาศในแอป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ปานกลาง (2) · ยอมรับได้*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PM2.5/ความร้อน/การยศาสตร์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แผนหยุดงานตามสภาพอากาศ; แจ้งเตือน PM2.5/ความร้อน; PPE ที่เหมาะสม; พักและติดตามอาการ (ยังไม่มี PM ครบ → L=2)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ปานกลาง (2) · ยอมรับได้*</a:t>
                      </a:r>
                      <a:endParaRPr lang="en-US" sz="14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*คะแนนคงเหลือเป็นสมมติฐานเชิงทฤษฎี ต้องยืนยันด้วยหลักฐานการปฏิบัติตามแผน การแจ้งเตือน และการตรวจประเมินจริงก่อนสรุปผล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0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แผนลงมือทำ | ระบุเจ้าของงานและตัวชี้วัด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C9A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ฝ่ายแพลตฟอร์ม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10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ระบบและอัลกอริทึม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ปรับสูตรคำนวณเวลาส่งตามสภาพการจราจรและฝน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ล็อกหน้าจอแอปพลิเคชันขณะตรวจพบความเร็วรถ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ตั้งเพดานชั่วโมงทำงานและระบบเตือนพักผ่อนอัตโนมัติ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ตัวชี้วัด: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อัตราการแตะหน้าจอขณะขับลดลงเป็น 0, การพักผ่อนตามเกณฑ์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ไรเดอร์และศูนย์ซ่อม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10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ความพร้อมยานพาหนะ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1031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ตรวจเช็กสภาพรถ (ยาง เบรก ไฟส่องสว่าง) ก่อนเริ่มงาน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จัดสัมภาระให้สมดุล ยึดกล่องท้ายรถอย่างแน่นหนา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รายงานรถชำรุด ความเมื่อยล้าสะสม หรือสภาพอากาศวิกฤต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ตัวชี้วัด: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บันทึกการตรวจสภาพรถสม่ำเสมอ, อัตราการสวมใส่หมวกเต็มใบ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การติดตามและทบทวน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10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การเฝ้าระวังต่อเนื่อง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1031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ตรวจสอบข้อมูลชั่วโมงการขับขี่จริงและการหยุดพัก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เก็บสถิติอุบัติเหตุและเหตุการณ์เกือบเกิดเหตุ (Near-miss)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ทบทวนมาตรการทันทีเมื่อเกิดอุบัติเหตุรุนแรง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ตัวชี้วัด: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อัตราการเกิดอุบัติเหตุลดลง, ผลตรวจสุขภาพระบบกล้ามเนื้อและกระดูก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0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กิจกรรมที่ 1 | แผนลดและควบคุมความเสี่ยง (Risk Control Action Plan)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C9A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 5 อันตรายจากใบงาน Week 10 มาจัดทำแผนครบ 8 ช่อง พร้อมประเมินความเสี่ยงคงเหลือ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 / 10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737360"/>
                <a:gridCol w="1005840"/>
                <a:gridCol w="3566160"/>
                <a:gridCol w="1371600"/>
                <a:gridCol w="868680"/>
                <a:gridCol w="91440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ลำดับ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จุดอันตราย / ขั้นตอนงาน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ระดับเสี่ยงเดิม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มาตรการควบคุมที่กำหนด (Hierarchy of Controls)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ผู้รับผิดชอบ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กรอบเวลา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งบประมาณ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ระดับเสี่ยงคงเหลือ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7A1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รถชนจากการเร่ง/แทรกเลน/ขึ้นทางเท้า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สูงมาก (16)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ขจัด/ทดแทน: ปรับเวลาส่งตามจราจรและอากาศ ไม่หักคะแนนเมื่อส่งช้าจากเหตุจราจร • บริหาร: SOP ขับขี่ปลอดภัยและฝึกอบรม • PPE: หมวกเต็มใบ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ฝ่ายแพลตฟอร์ม (ทีมอัลกอริทึม)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60 วัน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150,000 บ.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ปานกลาง (4) ยอมรับได้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เสียสมาธิจากการดูโทรศัพท์ขณะขับ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สูงมาก (16)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วิศวกรรม: ล็อกการรับออเดอร์/แตะหน้าจอเมื่อรถเคลื่อน ใช้เสียงนำทาง • บริหาร: ทดสอบระบบเป็นระยะ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ทีมพัฒนาแอป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 วัน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80,000 บ.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ปานกลาง (4) ยอมรับได้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ล้าสะสมและหลับในจากชั่วโมงทำงานยาว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สูงมาก (16)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บริหาร: เพดานชั่วโมงขับต่อวัน พักบังคับ หยุดรับงานเมื่อไม่พร้อม • สวัสดิการ: จุดพักและที่งีบ • เฝ้าระวัง: ตรวจข้อมูลชั่วโมงจริง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ฝ่ายแพลตฟอร์ม + จป.วิชาชีพ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45 วัน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100,000 บ.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ปานกลาง (4) ยอมรับได้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รถล้มจากกล่องถ่วงท้ายและถนนลื่น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สูงมาก (16)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วิศวกรรม: ยึด/จำกัดน้ำหนักกล่อง • บริหาร: ตรวจรถตามระยะ (PM) หยุดงานเมื่อฝนหนัก/น้ำท่วม • PPE: หมวกเต็มใบ อุปกรณ์กันฝน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ศูนย์ซ่อม + ฝ่ายปฏิบัติการ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 วัน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60,000 บ.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ปานกลาง (4) ยอมรับได้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PM2.5/ความร้อนและภาระการยศาสตร์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0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สูงมาก (12)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สวัสดิการ: จุดพักร่มเงา น้ำดื่ม • บริหาร: แจ้งเตือน PM2.5/ความร้อนในแอป • PPE: หน้ากากกรองฝุ่น • เฝ้าระวัง: ตรวจสุขภาพ/สมรรถภาพปอด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ฝ่ายสวัสดิการ + จป.วิชาชีพ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60 วัน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120,000 บ.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ปานกลาง (6) ยอมรับได้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9A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893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ผู้รับผิดชอบ กรอบเวลา และงบประมาณเป็นข้อเสนอ/ประมาณการเบื้องต้นของกลุ่ม; ความเสี่ยงคงเหลือต้องยืนยันด้วยหลักฐานจริงตามขั้นตอนทบทวน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0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กิจกรรมที่ 2 | สื่อรณรงค์ความปลอดภัยเชิงรุก (Safety Campaign Pitch)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C9A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หัวข้อ: การขับขี่ส่งอาหารช่วงฝนตก/ถนนลื่น (อันตรายหมายเลข 4)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7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1) คำขวัญ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10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“ฝนตกอย่าฝืน ถนนลื่นอย่าเร่ง ช้าสักนิดปลอดภัย ได้กลับบ้านหาครอบครัว”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7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2) โปสเตอร์ Infographic A4 (ดูไฟล์ PDF แยก; ภาพจำลองทางขวา)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54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7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3) แนวคิดนำเสนอ: ช่วยลดอย่างไร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7472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 Unsafe Act: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เตือนตรวจรถ ยึดกล่อง ลดความเร็ว เลี่ยงฝาท่อ ก่อนออกงานและเมื่อฝนตก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 Unsafe Condition: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สื่อบอกสิทธิ์ “หยุดรับงานได้โดยไม่ถูกตัดคะแนน” จึงลดแรงกดดันเวลา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น้ำเสียงเชิงบวก: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เน้นการกลับบ้านหาครอบครัว ไม่ข่มขู่หรือกล่าวโทษไรเดอร์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0" y="1097280"/>
            <a:ext cx="2926080" cy="4142232"/>
          </a:xfrm>
          <a:prstGeom prst="rect">
            <a:avLst/>
          </a:prstGeom>
          <a:solidFill>
            <a:srgbClr val="FFF8E7"/>
          </a:solidFill>
          <a:ln w="19050">
            <a:solidFill>
              <a:srgbClr val="C9A2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1097280"/>
            <a:ext cx="2926080" cy="1051560"/>
          </a:xfrm>
          <a:prstGeom prst="rect">
            <a:avLst/>
          </a:prstGeom>
          <a:solidFill>
            <a:srgbClr val="7A1028"/>
          </a:solidFill>
          <a:ln w="12700">
            <a:solidFill>
              <a:srgbClr val="7A10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11887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ฝนตกอย่าฝืน ถนนลื่นอย่าเร่ง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2240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 ระวัง: ถนนเปียก ฝาท่อลื่น กล่องท้ายถ่วงน้ำหนัก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27889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ตรวจยาง เบรก ไฟ ก่อนออกงาน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ยึดกล่อง จัดน้ำหนักให้สมดุล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ลดความเร็ว เว้นระยะ เลี่ยงฝาท่อ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ฝนหนัก/น้ำท่วม: หยุดรับงานได้ ไม่ตัดคะแนน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ง่วง/ล้า: จอดพักก่อน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47365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0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กลับบ้านปลอดภัย ทุกวัน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5285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ภาพจำลองโปสเตอร์ A4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A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ข้อคิดและประเด็นอภิปราย · สรุปบทเรียน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ความปลอดภัยที่ดีต้องทำให้กลับบ้านได้ — ไม่ใช่แค่เตือนให้ระวัง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ln w="19050">
            <a:solidFill>
              <a:srgbClr val="C9A2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1945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อะไรสร้างความเหนื่อยล้าหรือกังวลใจให้ไรเดอร์มากที่สุดในแต่ละวัน และมาตรการของกลุ่มช่วยให้เขากลับบ้านไปหาคนที่รักได้อย่างไร?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ln w="19050">
            <a:solidFill>
              <a:srgbClr val="C9A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1546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ถ้าไม่มีไรเดอร์ ชีวิตประจำวัน ความสะดวกสบาย และสังคมรอบตัวเราจะได้รับผลกระทบอย่างไร?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ln w="19050">
            <a:solidFill>
              <a:srgbClr val="C9A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1148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ทำไมมาตรการที่ดีจึงไม่ควรสั่งหรือผลักภาระให้ไรเดอร์ระวังตัวเองเพียงอย่างเดียว (เช่น ป๊อปอัปเตือน หรือสั่งสวม PPE) แต่ต้องปรับระบบงานและสภาพแวดล้อม?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ln w="19050">
            <a:solidFill>
              <a:srgbClr val="C9A2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0749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ระบบคะแนน เวลา และรายได้ควรถูกออกแบบอย่างไร ให้ส่งงานได้โดยไม่ต้องเสี่ยง?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651760" cy="2651760"/>
          </a:xfrm>
          <a:prstGeom prst="ellipse">
            <a:avLst/>
          </a:prstGeom>
          <a:ln w="25400">
            <a:solidFill>
              <a:srgbClr val="C9A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23774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อุบัติเหตุ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4754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เป้าหมายสูงสุดคือไรเดอร์ทุกคนต้องได้กลับบ้านอย่างปลอดภัยในทุกวัน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การอภิปรายแบบมีส่วนร่วม · สัปดาห์ที่ 10–11 วิชาอาชีวอนามัยและความปลอดภัย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2026-10-22T02:20:48Z</dcterms:created>
  <dcterms:modified xsi:type="dcterms:W3CDTF">2026-10-22T02:20:48Z</dcterms:modified>
</cp:coreProperties>
</file>